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69" r:id="rId2"/>
    <p:sldId id="287" r:id="rId3"/>
    <p:sldId id="314" r:id="rId4"/>
    <p:sldId id="313" r:id="rId5"/>
    <p:sldId id="275" r:id="rId6"/>
    <p:sldId id="318" r:id="rId7"/>
    <p:sldId id="305" r:id="rId8"/>
    <p:sldId id="315" r:id="rId9"/>
    <p:sldId id="317" r:id="rId10"/>
    <p:sldId id="289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16" r:id="rId31"/>
    <p:sldId id="274" r:id="rId32"/>
    <p:sldId id="26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F7F1C-0C00-4FAF-856D-92B9BD14F8E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383A7-F9A4-49B1-A912-5211FEC8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3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82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0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65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55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4BEA-3D82-29BB-629C-8741AB368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95DE8-100E-1309-D86A-442C9E06B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CBE34-9409-36F4-355A-74895E252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C7655-5170-9C68-689A-74B4E54D3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19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4BEA-3D82-29BB-629C-8741AB368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95DE8-100E-1309-D86A-442C9E06B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CBE34-9409-36F4-355A-74895E252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C7655-5170-9C68-689A-74B4E54D3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43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30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02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9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00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26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6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84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68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29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38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583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40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306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32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620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58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14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470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526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1FD8-56EE-175C-3079-5259D11A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91BF-F014-E5A6-AE57-B3CD91C62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6708-C7D4-0215-047A-E8860BC0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4813-E422-5033-28B7-3A5F70FBA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518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826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383A7-F9A4-49B1-A912-5211FEC80DE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4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oeurnpheakde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0371F4-18E6-47C1-AE1A-DB7EC2EE7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82" y="392972"/>
            <a:ext cx="3331658" cy="106985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571A67-472A-4907-9D19-7784EF423E2B}"/>
              </a:ext>
            </a:extLst>
          </p:cNvPr>
          <p:cNvSpPr txBox="1"/>
          <p:nvPr/>
        </p:nvSpPr>
        <p:spPr>
          <a:xfrm>
            <a:off x="4310104" y="527787"/>
            <a:ext cx="4773314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2400">
                <a:solidFill>
                  <a:srgbClr val="F3541E"/>
                </a:solidFill>
                <a:latin typeface="Khmer OS Muol" panose="02000500000000020004" pitchFamily="2" charset="0"/>
                <a:ea typeface="MS PGothic" panose="020B0600070205080204" pitchFamily="34" charset="-128"/>
                <a:cs typeface="Khmer OS Muol" panose="02000500000000020004" pitchFamily="2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>
              <a:defRPr sz="24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>
              <a:defRPr sz="24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>
              <a:defRPr sz="24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>
              <a:defRPr sz="24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km-KH" sz="1600" dirty="0">
                <a:solidFill>
                  <a:srgbClr val="002060"/>
                </a:solidFill>
              </a:rPr>
              <a:t>មហាវិទ្យាល័យវិទ្យាសាស្រ្ត និងបច្ចេកវិទ្យា</a:t>
            </a:r>
          </a:p>
          <a:p>
            <a:r>
              <a:rPr lang="en-US" sz="1600" dirty="0">
                <a:solidFill>
                  <a:srgbClr val="002060"/>
                </a:solidFill>
              </a:rPr>
              <a:t>Faculty Science and Technology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19C763C-6A3C-4079-B8E8-F7EBD4711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1" r="4330"/>
          <a:stretch/>
        </p:blipFill>
        <p:spPr bwMode="auto">
          <a:xfrm>
            <a:off x="0" y="1731836"/>
            <a:ext cx="5226207" cy="355864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071131-FC20-4EAE-B3A2-FCE690864B01}"/>
              </a:ext>
            </a:extLst>
          </p:cNvPr>
          <p:cNvSpPr/>
          <p:nvPr/>
        </p:nvSpPr>
        <p:spPr>
          <a:xfrm>
            <a:off x="4207933" y="1731835"/>
            <a:ext cx="4936067" cy="35586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km-KH" sz="2200" dirty="0">
                <a:solidFill>
                  <a:schemeClr val="bg1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ណែនាំអំពី</a:t>
            </a:r>
            <a:r>
              <a:rPr lang="en-US" sz="2200" dirty="0">
                <a:solidFill>
                  <a:schemeClr val="bg1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 </a:t>
            </a:r>
            <a:r>
              <a:rPr lang="km-KH" sz="2200" dirty="0">
                <a:solidFill>
                  <a:schemeClr val="bg1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ឌីជីថល </a:t>
            </a:r>
            <a:endParaRPr lang="en-US" sz="2200" dirty="0">
              <a:solidFill>
                <a:schemeClr val="bg1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km-KH" sz="2200" dirty="0">
                <a:solidFill>
                  <a:schemeClr val="bg1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និងបញ្ញាសប្បនិម្មិត</a:t>
            </a:r>
            <a:endParaRPr lang="en-US" sz="2200" dirty="0">
              <a:solidFill>
                <a:schemeClr val="bg1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en-US" sz="2200" dirty="0">
                <a:solidFill>
                  <a:schemeClr val="bg1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(Introduction to Digital and AI)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B695D-1383-4241-A911-0DCB45768DA8}"/>
              </a:ext>
            </a:extLst>
          </p:cNvPr>
          <p:cNvSpPr txBox="1"/>
          <p:nvPr/>
        </p:nvSpPr>
        <p:spPr>
          <a:xfrm>
            <a:off x="249447" y="5694309"/>
            <a:ext cx="4546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Lecturer Mr. THOEURN Pheakdey</a:t>
            </a:r>
          </a:p>
          <a:p>
            <a:r>
              <a:rPr lang="en-US" sz="1600" dirty="0">
                <a:solidFill>
                  <a:srgbClr val="00206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Tel : 096 958 6726</a:t>
            </a:r>
            <a:br>
              <a:rPr lang="en-US" sz="1600" dirty="0">
                <a:solidFill>
                  <a:srgbClr val="00206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</a:br>
            <a:r>
              <a:rPr lang="en-US" sz="1600" dirty="0">
                <a:solidFill>
                  <a:srgbClr val="00206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Email : thoeurnpheakdey@aeu.edu.kh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5E1FC-4E4B-D079-266F-621B99CDE8FF}"/>
              </a:ext>
            </a:extLst>
          </p:cNvPr>
          <p:cNvSpPr txBox="1"/>
          <p:nvPr/>
        </p:nvSpPr>
        <p:spPr>
          <a:xfrm>
            <a:off x="6636925" y="5754171"/>
            <a:ext cx="244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m-KH" sz="1600" dirty="0">
                <a:solidFill>
                  <a:srgbClr val="00206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ថ្នាក់បំប៉ន</a:t>
            </a:r>
            <a:endParaRPr lang="en-US" sz="1600" dirty="0">
              <a:solidFill>
                <a:srgbClr val="002060"/>
              </a:solidFill>
              <a:latin typeface="Khmer OS Muol" panose="02000500000000020004" pitchFamily="2" charset="0"/>
              <a:cs typeface="Khmer OS Muol" panose="02000500000000020004" pitchFamily="2" charset="0"/>
            </a:endParaRPr>
          </a:p>
          <a:p>
            <a:pPr algn="r"/>
            <a:r>
              <a:rPr lang="en-US" sz="1600" dirty="0">
                <a:solidFill>
                  <a:srgbClr val="00206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Introduction to ICT</a:t>
            </a:r>
          </a:p>
        </p:txBody>
      </p:sp>
    </p:spTree>
    <p:extLst>
      <p:ext uri="{BB962C8B-B14F-4D97-AF65-F5344CB8AC3E}">
        <p14:creationId xmlns:p14="http://schemas.microsoft.com/office/powerpoint/2010/main" val="2455091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8A4722-79FC-46FC-9FAC-99932CBA79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4" r="4022"/>
          <a:stretch/>
        </p:blipFill>
        <p:spPr>
          <a:xfrm>
            <a:off x="0" y="58994"/>
            <a:ext cx="9144000" cy="666135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53EDCCA-AFA5-42FE-A5B6-F19ED4AF0876}"/>
              </a:ext>
            </a:extLst>
          </p:cNvPr>
          <p:cNvGrpSpPr/>
          <p:nvPr/>
        </p:nvGrpSpPr>
        <p:grpSpPr>
          <a:xfrm>
            <a:off x="0" y="-88489"/>
            <a:ext cx="9144000" cy="147484"/>
            <a:chOff x="0" y="0"/>
            <a:chExt cx="12192000" cy="7218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71EB2C-5B78-4543-9058-47594ACF73AA}"/>
                </a:ext>
              </a:extLst>
            </p:cNvPr>
            <p:cNvSpPr/>
            <p:nvPr/>
          </p:nvSpPr>
          <p:spPr>
            <a:xfrm>
              <a:off x="0" y="0"/>
              <a:ext cx="2646947" cy="721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D327C8-91BF-45B1-B010-81C142A56209}"/>
                </a:ext>
              </a:extLst>
            </p:cNvPr>
            <p:cNvSpPr/>
            <p:nvPr/>
          </p:nvSpPr>
          <p:spPr>
            <a:xfrm flipV="1">
              <a:off x="2646947" y="1"/>
              <a:ext cx="9545053" cy="7218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2DC7DF6-6688-46CA-9E04-ADD17575A37D}"/>
              </a:ext>
            </a:extLst>
          </p:cNvPr>
          <p:cNvGrpSpPr/>
          <p:nvPr/>
        </p:nvGrpSpPr>
        <p:grpSpPr>
          <a:xfrm>
            <a:off x="0" y="6710516"/>
            <a:ext cx="9144000" cy="147484"/>
            <a:chOff x="0" y="0"/>
            <a:chExt cx="12192000" cy="721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C78370-473C-4C01-B6D2-FC71C60D16DF}"/>
                </a:ext>
              </a:extLst>
            </p:cNvPr>
            <p:cNvSpPr/>
            <p:nvPr/>
          </p:nvSpPr>
          <p:spPr>
            <a:xfrm>
              <a:off x="0" y="0"/>
              <a:ext cx="2646947" cy="721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B15CE7-DE1D-43CD-88C4-51AC3637E32E}"/>
                </a:ext>
              </a:extLst>
            </p:cNvPr>
            <p:cNvSpPr/>
            <p:nvPr/>
          </p:nvSpPr>
          <p:spPr>
            <a:xfrm flipV="1">
              <a:off x="2646947" y="1"/>
              <a:ext cx="9545053" cy="7218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67B4D14-B033-49F8-A2F2-9B9B11777CF6}"/>
              </a:ext>
            </a:extLst>
          </p:cNvPr>
          <p:cNvSpPr txBox="1"/>
          <p:nvPr/>
        </p:nvSpPr>
        <p:spPr>
          <a:xfrm>
            <a:off x="172081" y="1309270"/>
            <a:ext cx="5973109" cy="212365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km-KH" sz="6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 Khmer" pitchFamily="2" charset="0"/>
              </a:rPr>
              <a:t>បច្ចេកវិទ្យាឌីជីថល</a:t>
            </a:r>
            <a:endParaRPr lang="en-US" sz="6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Sans Khmer" pitchFamily="2" charset="0"/>
            </a:endParaRPr>
          </a:p>
          <a:p>
            <a:pPr algn="ctr"/>
            <a:r>
              <a:rPr lang="km-KH" sz="6600" b="1" dirty="0">
                <a:solidFill>
                  <a:srgbClr val="C00000"/>
                </a:solidFill>
                <a:latin typeface="MiSans Khmer" pitchFamily="2" charset="0"/>
                <a:cs typeface="MiSans Khmer" pitchFamily="2" charset="0"/>
              </a:rPr>
              <a:t>និងបញ្ញាសប្បនិម្មិត</a:t>
            </a:r>
            <a:endParaRPr lang="en-US" sz="6600" b="1" dirty="0">
              <a:solidFill>
                <a:srgbClr val="C00000"/>
              </a:solidFill>
              <a:latin typeface="MiSans Khmer" pitchFamily="2" charset="0"/>
              <a:cs typeface="MiSans Khm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01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2DC7DF6-6688-46CA-9E04-ADD17575A37D}"/>
              </a:ext>
            </a:extLst>
          </p:cNvPr>
          <p:cNvGrpSpPr/>
          <p:nvPr/>
        </p:nvGrpSpPr>
        <p:grpSpPr>
          <a:xfrm>
            <a:off x="0" y="6739542"/>
            <a:ext cx="9144000" cy="118457"/>
            <a:chOff x="0" y="0"/>
            <a:chExt cx="12192000" cy="72189"/>
          </a:xfrm>
          <a:solidFill>
            <a:srgbClr val="00B050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C78370-473C-4C01-B6D2-FC71C60D16DF}"/>
                </a:ext>
              </a:extLst>
            </p:cNvPr>
            <p:cNvSpPr/>
            <p:nvPr/>
          </p:nvSpPr>
          <p:spPr>
            <a:xfrm>
              <a:off x="0" y="0"/>
              <a:ext cx="2646947" cy="721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B15CE7-DE1D-43CD-88C4-51AC3637E32E}"/>
                </a:ext>
              </a:extLst>
            </p:cNvPr>
            <p:cNvSpPr/>
            <p:nvPr/>
          </p:nvSpPr>
          <p:spPr>
            <a:xfrm flipV="1">
              <a:off x="2646947" y="1"/>
              <a:ext cx="9545053" cy="721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9528B5F-7214-49AB-8B47-FCECDA66AD98}"/>
              </a:ext>
            </a:extLst>
          </p:cNvPr>
          <p:cNvSpPr txBox="1"/>
          <p:nvPr/>
        </p:nvSpPr>
        <p:spPr>
          <a:xfrm>
            <a:off x="1666861" y="343306"/>
            <a:ext cx="5588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1B1B1B"/>
                </a:solidFill>
              </a:rPr>
              <a:t>Lecturer’s Profile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FE03D1-8D1D-47DD-80E1-307AAD276B32}"/>
              </a:ext>
            </a:extLst>
          </p:cNvPr>
          <p:cNvSpPr txBox="1"/>
          <p:nvPr/>
        </p:nvSpPr>
        <p:spPr>
          <a:xfrm>
            <a:off x="110657" y="2123747"/>
            <a:ext cx="4141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b="1" i="0" dirty="0">
                <a:solidFill>
                  <a:srgbClr val="1B1B1B"/>
                </a:solidFill>
                <a:effectLst/>
              </a:rPr>
              <a:t>Mr. THOEURN </a:t>
            </a:r>
            <a:r>
              <a:rPr lang="en-US" sz="2400" b="1" i="0" dirty="0" err="1">
                <a:solidFill>
                  <a:srgbClr val="1B1B1B"/>
                </a:solidFill>
                <a:effectLst/>
              </a:rPr>
              <a:t>Pheakdey</a:t>
            </a:r>
            <a:endParaRPr lang="en-US" sz="2400" b="1" dirty="0"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993476-AE9B-4C5A-BD9B-FB1549C58D19}"/>
              </a:ext>
            </a:extLst>
          </p:cNvPr>
          <p:cNvSpPr txBox="1"/>
          <p:nvPr/>
        </p:nvSpPr>
        <p:spPr>
          <a:xfrm>
            <a:off x="688436" y="2537414"/>
            <a:ext cx="4729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effectLst/>
              </a:rPr>
              <a:t>Github</a:t>
            </a:r>
            <a:r>
              <a:rPr lang="en-US" dirty="0"/>
              <a:t> : </a:t>
            </a:r>
            <a:r>
              <a:rPr lang="en-US" dirty="0">
                <a:hlinkClick r:id="rId3"/>
              </a:rPr>
              <a:t>https://github.com/thoeurnpheakdey</a:t>
            </a:r>
            <a:endParaRPr lang="en-US" dirty="0"/>
          </a:p>
          <a:p>
            <a:r>
              <a:rPr lang="en-US" dirty="0">
                <a:effectLst/>
              </a:rPr>
              <a:t>Email : thoeurnpheakdey@aeu.edu.kh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B658B3-52E4-4F1A-88F9-747F026F688C}"/>
              </a:ext>
            </a:extLst>
          </p:cNvPr>
          <p:cNvSpPr txBox="1"/>
          <p:nvPr/>
        </p:nvSpPr>
        <p:spPr>
          <a:xfrm>
            <a:off x="160898" y="3487759"/>
            <a:ext cx="48397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Skills : </a:t>
            </a:r>
            <a:br>
              <a:rPr lang="en-US" sz="2400" dirty="0"/>
            </a:br>
            <a:r>
              <a:rPr lang="en-US" sz="2400" dirty="0"/>
              <a:t>- Software Developer</a:t>
            </a:r>
          </a:p>
          <a:p>
            <a:pPr lvl="1"/>
            <a:r>
              <a:rPr lang="en-US" sz="2400" dirty="0"/>
              <a:t>- IoT &amp; Robotics Developer</a:t>
            </a:r>
            <a:br>
              <a:rPr lang="en-US" sz="2400" dirty="0"/>
            </a:br>
            <a:r>
              <a:rPr lang="en-US" sz="2400" dirty="0"/>
              <a:t>- Researcher Digital and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50A33-59AB-4D55-ACBE-ACA845A91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470" y="1564635"/>
            <a:ext cx="2489884" cy="248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07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668592" y="2065362"/>
            <a:ext cx="7177549" cy="2727276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6000" dirty="0">
                <a:solidFill>
                  <a:srgbClr val="FFFF00"/>
                </a:solidFill>
                <a:latin typeface="+mn-lt"/>
                <a:cs typeface="MiSans Khmer" pitchFamily="50" charset="0"/>
              </a:rPr>
              <a:t>ឌីជី</a:t>
            </a:r>
            <a:r>
              <a:rPr lang="km-KH" sz="31900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ថល</a:t>
            </a:r>
            <a:br>
              <a:rPr lang="km-KH" sz="9600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r>
              <a:rPr lang="km-KH" sz="6000" b="1" dirty="0">
                <a:solidFill>
                  <a:srgbClr val="FF0000"/>
                </a:solidFill>
                <a:latin typeface="+mn-lt"/>
                <a:cs typeface="MiSans Khmer" pitchFamily="50" charset="0"/>
              </a:rPr>
              <a:t>និង</a:t>
            </a:r>
            <a:br>
              <a:rPr lang="km-KH" sz="6000" b="1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r>
              <a:rPr lang="km-KH" sz="9600" b="1" dirty="0">
                <a:solidFill>
                  <a:srgbClr val="00B050"/>
                </a:solidFill>
                <a:latin typeface="+mn-lt"/>
                <a:cs typeface="MiSans Khmer" pitchFamily="50" charset="0"/>
              </a:rPr>
              <a:t>បញ្ញាសប្បនិម្មិត</a:t>
            </a:r>
            <a:endParaRPr sz="96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48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354"/>
            <a:ext cx="8229600" cy="489476"/>
          </a:xfrm>
        </p:spPr>
        <p:txBody>
          <a:bodyPr>
            <a:no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4800" dirty="0">
                <a:solidFill>
                  <a:srgbClr val="00B050"/>
                </a:solidFill>
                <a:latin typeface="Calibri" panose="020F0502020204030204" pitchFamily="34" charset="0"/>
                <a:cs typeface="MiSans Khmer" pitchFamily="50" charset="0"/>
              </a:rPr>
              <a:t>មាតិកា</a:t>
            </a:r>
            <a:endParaRPr sz="4800" dirty="0">
              <a:solidFill>
                <a:srgbClr val="00B050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380" y="1870517"/>
            <a:ext cx="8406143" cy="29374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FFC000"/>
                </a:solidFill>
                <a:latin typeface="Calibri" panose="020F0502020204030204" pitchFamily="34" charset="0"/>
                <a:cs typeface="MiSans Khmer" pitchFamily="50" charset="0"/>
              </a:rPr>
              <a:t>តើអ្វីជាឌីជីថល</a:t>
            </a:r>
          </a:p>
          <a:p>
            <a:pPr marL="457200" indent="-457200">
              <a:lnSpc>
                <a:spcPct val="150000"/>
              </a:lnSpc>
              <a:buAutoNum type="arabicPeriod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FFC000"/>
                </a:solidFill>
                <a:latin typeface="Calibri" panose="020F0502020204030204" pitchFamily="34" charset="0"/>
                <a:cs typeface="MiSans Khmer" pitchFamily="50" charset="0"/>
              </a:rPr>
              <a:t>វិស័យដែលប្រើឌីជីថល</a:t>
            </a:r>
          </a:p>
          <a:p>
            <a:pPr marL="457200" indent="-457200">
              <a:lnSpc>
                <a:spcPct val="150000"/>
              </a:lnSpc>
              <a:buAutoNum type="arabicPeriod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FFC000"/>
                </a:solidFill>
                <a:latin typeface="Calibri" panose="020F0502020204030204" pitchFamily="34" charset="0"/>
                <a:cs typeface="MiSans Khmer" pitchFamily="50" charset="0"/>
              </a:rPr>
              <a:t>អត្ថប្រយោជន៍នៃឌីជីថល</a:t>
            </a:r>
          </a:p>
          <a:p>
            <a:pPr marL="457200" indent="-457200">
              <a:lnSpc>
                <a:spcPct val="150000"/>
              </a:lnSpc>
              <a:buAutoNum type="arabicPeriod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FFC000"/>
                </a:solidFill>
                <a:latin typeface="Calibri" panose="020F0502020204030204" pitchFamily="34" charset="0"/>
                <a:cs typeface="MiSans Khmer" pitchFamily="50" charset="0"/>
              </a:rPr>
              <a:t>តើយើងប្រើប្រាស់ឌីជីថលអ្វីខ្លះ?</a:t>
            </a:r>
            <a:endParaRPr lang="en-US" sz="2400" b="1" dirty="0">
              <a:solidFill>
                <a:srgbClr val="FFC000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3DDF2-DDBA-4E40-806F-6A083238509E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8D7D51-4A8B-431A-9D8B-5505A6CB8C0C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ICT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F57309-0BB6-4DAA-99C2-588870F258A9}"/>
              </a:ext>
            </a:extLst>
          </p:cNvPr>
          <p:cNvSpPr/>
          <p:nvPr/>
        </p:nvSpPr>
        <p:spPr>
          <a:xfrm>
            <a:off x="0" y="6744929"/>
            <a:ext cx="9144000" cy="11307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87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34AE0E-6634-44E2-AA45-CF49DBA5BDE8}"/>
              </a:ext>
            </a:extLst>
          </p:cNvPr>
          <p:cNvSpPr/>
          <p:nvPr/>
        </p:nvSpPr>
        <p:spPr>
          <a:xfrm>
            <a:off x="0" y="0"/>
            <a:ext cx="4454013" cy="6858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9046" y="2488149"/>
            <a:ext cx="5063612" cy="2727276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6000" dirty="0">
                <a:solidFill>
                  <a:srgbClr val="00B050"/>
                </a:solidFill>
                <a:latin typeface="+mn-lt"/>
                <a:cs typeface="MiSans Khmer" pitchFamily="50" charset="0"/>
              </a:rPr>
              <a:t>តើអ្វីជា</a:t>
            </a:r>
            <a:br>
              <a:rPr lang="km-KH" sz="6000" dirty="0">
                <a:solidFill>
                  <a:srgbClr val="FFFF00"/>
                </a:solidFill>
                <a:latin typeface="+mn-lt"/>
                <a:cs typeface="MiSans Khmer" pitchFamily="50" charset="0"/>
              </a:rPr>
            </a:br>
            <a:r>
              <a:rPr lang="km-KH" sz="10700" b="1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ឌីជី</a:t>
            </a:r>
            <a:r>
              <a:rPr lang="km-KH" sz="10700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ថល</a:t>
            </a:r>
            <a:br>
              <a:rPr lang="km-KH" sz="9600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endParaRPr sz="96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099B26-29F8-4C0B-AAE6-5532439C82C3}"/>
              </a:ext>
            </a:extLst>
          </p:cNvPr>
          <p:cNvSpPr txBox="1">
            <a:spLocks/>
          </p:cNvSpPr>
          <p:nvPr/>
        </p:nvSpPr>
        <p:spPr>
          <a:xfrm>
            <a:off x="-491612" y="4130724"/>
            <a:ext cx="5063612" cy="2727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30000" b="1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១</a:t>
            </a:r>
            <a:br>
              <a:rPr lang="km-KH" sz="30000" b="1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endParaRPr lang="km-KH" sz="300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52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4853C-AC07-D75E-E765-34EC264E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ow Digital Technologies Shape Our World: Trends &amp; Challenges">
            <a:extLst>
              <a:ext uri="{FF2B5EF4-FFF2-40B4-BE49-F238E27FC236}">
                <a16:creationId xmlns:a16="http://schemas.microsoft.com/office/drawing/2014/main" id="{06BC241B-C12D-4C25-A568-D09E4A538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58"/>
          <a:stretch/>
        </p:blipFill>
        <p:spPr bwMode="auto">
          <a:xfrm>
            <a:off x="4871261" y="4100541"/>
            <a:ext cx="4272739" cy="262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ive Tech Trends to Watch in 2024 and Beyond">
            <a:extLst>
              <a:ext uri="{FF2B5EF4-FFF2-40B4-BE49-F238E27FC236}">
                <a16:creationId xmlns:a16="http://schemas.microsoft.com/office/drawing/2014/main" id="{B752024A-18D6-4108-BD1B-FFD23DB62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100541"/>
            <a:ext cx="4871260" cy="274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51CC8FFE-1714-4645-1D91-CB38CF9E20C3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AF255676-3702-0768-3F85-86A1B766BAE5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F13AC-0E55-8A5D-C7C2-1C827F0A434F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702A29-94B4-3392-EB1E-FC7C703E9CB2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764BCD-8CAA-F82F-4B05-BE8BAFA57915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8E5B178-2432-C831-0D1B-2C41BC4B321B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E4544FD-37A9-BDA8-960B-40C4C1828164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B067CF-6BF8-FFD2-BA4D-F58B6D106829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CE0F235-AE99-16E7-AC83-A2EEC50D5B56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05FD7F-B3BB-8133-2934-146B6D381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3092"/>
            <a:ext cx="8229600" cy="489476"/>
          </a:xfrm>
        </p:spPr>
        <p:txBody>
          <a:bodyPr>
            <a:normAutofit/>
          </a:bodyPr>
          <a:lstStyle/>
          <a:p>
            <a:pPr algn="l">
              <a:defRPr sz="3600" b="1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៩. តើអ្វីជា</a:t>
            </a: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 Digital?</a:t>
            </a:r>
            <a:endParaRPr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E4A6-2B8E-FD73-99BD-E62AE941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867"/>
            <a:ext cx="8406143" cy="1516159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400" b="1" dirty="0">
                <a:latin typeface="Calibri" panose="020F0502020204030204" pitchFamily="34" charset="0"/>
                <a:ea typeface="+mj-ea"/>
                <a:cs typeface="MiSans Khmer" pitchFamily="50" charset="0"/>
              </a:rPr>
              <a:t>Digital (</a:t>
            </a:r>
            <a:r>
              <a:rPr lang="km-KH" sz="2400" b="1" dirty="0">
                <a:latin typeface="MiSans Khmer" pitchFamily="50" charset="0"/>
                <a:cs typeface="MiSans Khmer" pitchFamily="50" charset="0"/>
              </a:rPr>
              <a:t>ឌីជីថល)</a:t>
            </a:r>
            <a:r>
              <a:rPr lang="km-KH" sz="2400" dirty="0">
                <a:latin typeface="MiSans Khmer" pitchFamily="50" charset="0"/>
                <a:cs typeface="MiSans Khmer" pitchFamily="50" charset="0"/>
              </a:rPr>
              <a:t> មានន័យថា បច្ចេកវិទ្យាដែលប្រើទិន្នន័យជាលេខ ជាពិសេសលេខ </a:t>
            </a:r>
            <a:r>
              <a:rPr lang="km-KH" sz="2400" b="1" dirty="0">
                <a:latin typeface="MiSans Khmer" pitchFamily="50" charset="0"/>
                <a:cs typeface="MiSans Khmer" pitchFamily="50" charset="0"/>
              </a:rPr>
              <a:t>0 និង 1</a:t>
            </a:r>
            <a:r>
              <a:rPr lang="km-KH" sz="2400" dirty="0">
                <a:latin typeface="MiSans Khmer" pitchFamily="50" charset="0"/>
                <a:cs typeface="MiSans Khmer" pitchFamily="50" charset="0"/>
              </a:rPr>
              <a:t> ដើម្បីរក្សាទុក ដំណើរការ និងបញ្ជូនព័ត៌មាន។</a:t>
            </a: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CF971-AA7C-E738-C5DC-09A10047C25C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90C46-FB2A-45D0-B204-4EB5862B7E18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321234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4853C-AC07-D75E-E765-34EC264E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15+ Free Payment Method &amp; Credit Card Icon Sets — Speckyboy">
            <a:extLst>
              <a:ext uri="{FF2B5EF4-FFF2-40B4-BE49-F238E27FC236}">
                <a16:creationId xmlns:a16="http://schemas.microsoft.com/office/drawing/2014/main" id="{75B9FDC6-1C08-4588-A327-5FFE86EB1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011" y="4056698"/>
            <a:ext cx="3922934" cy="261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vices and the Cloud | Stephen Smith's Blog">
            <a:extLst>
              <a:ext uri="{FF2B5EF4-FFF2-40B4-BE49-F238E27FC236}">
                <a16:creationId xmlns:a16="http://schemas.microsoft.com/office/drawing/2014/main" id="{B8108291-4362-44E8-827B-2AD6B920B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65" y="3877199"/>
            <a:ext cx="5184536" cy="279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51CC8FFE-1714-4645-1D91-CB38CF9E20C3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AF255676-3702-0768-3F85-86A1B766BAE5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F13AC-0E55-8A5D-C7C2-1C827F0A434F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702A29-94B4-3392-EB1E-FC7C703E9CB2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764BCD-8CAA-F82F-4B05-BE8BAFA57915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8E5B178-2432-C831-0D1B-2C41BC4B321B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E4544FD-37A9-BDA8-960B-40C4C1828164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B067CF-6BF8-FFD2-BA4D-F58B6D106829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CE0F235-AE99-16E7-AC83-A2EEC50D5B56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E4A6-2B8E-FD73-99BD-E62AE941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719545"/>
            <a:ext cx="4340942" cy="2224808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m-KH" sz="2400" b="1" dirty="0">
                <a:latin typeface="MiSans Khmer" pitchFamily="50" charset="0"/>
                <a:cs typeface="MiSans Khmer" pitchFamily="50" charset="0"/>
              </a:rPr>
              <a:t>ឧទាហរណ៍៖</a:t>
            </a:r>
          </a:p>
          <a:p>
            <a:pPr>
              <a:lnSpc>
                <a:spcPct val="170000"/>
              </a:lnSpc>
            </a:pPr>
            <a:r>
              <a:rPr lang="km-KH" sz="2400" dirty="0">
                <a:latin typeface="MiSans Khmer" pitchFamily="50" charset="0"/>
                <a:cs typeface="MiSans Khmer" pitchFamily="50" charset="0"/>
              </a:rPr>
              <a:t>ទូរស័ព្ទឆ្លាតវៃ និងកុំព្យូទ័រ </a:t>
            </a:r>
          </a:p>
          <a:p>
            <a:pPr>
              <a:lnSpc>
                <a:spcPct val="170000"/>
              </a:lnSpc>
            </a:pPr>
            <a:r>
              <a:rPr lang="km-KH" sz="2400" dirty="0">
                <a:latin typeface="MiSans Khmer" pitchFamily="50" charset="0"/>
                <a:cs typeface="MiSans Khmer" pitchFamily="50" charset="0"/>
              </a:rPr>
              <a:t>រូបថត ឬវីដេអូឌីជីថល </a:t>
            </a: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CF971-AA7C-E738-C5DC-09A10047C25C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90C46-FB2A-45D0-B204-4EB5862B7E18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10626F1-F335-44F9-84C9-ED7490723312}"/>
              </a:ext>
            </a:extLst>
          </p:cNvPr>
          <p:cNvSpPr txBox="1">
            <a:spLocks/>
          </p:cNvSpPr>
          <p:nvPr/>
        </p:nvSpPr>
        <p:spPr>
          <a:xfrm>
            <a:off x="4911761" y="1408096"/>
            <a:ext cx="4340942" cy="1538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m-KH" sz="2400" dirty="0">
                <a:latin typeface="MiSans Khmer" pitchFamily="50" charset="0"/>
                <a:cs typeface="MiSans Khmer" pitchFamily="50" charset="0"/>
              </a:rPr>
              <a:t>ការទូទាត់ប្រាក់តាមអនឡាញ </a:t>
            </a:r>
          </a:p>
          <a:p>
            <a:pPr>
              <a:lnSpc>
                <a:spcPct val="170000"/>
              </a:lnSpc>
            </a:pPr>
            <a:r>
              <a:rPr lang="km-KH" sz="2400" dirty="0">
                <a:latin typeface="MiSans Khmer" pitchFamily="50" charset="0"/>
                <a:cs typeface="MiSans Khmer" pitchFamily="50" charset="0"/>
              </a:rPr>
              <a:t>បណ្តាញសង្គម និងគេហទំព័រ</a:t>
            </a:r>
          </a:p>
          <a:p>
            <a:pPr marL="0" indent="0">
              <a:lnSpc>
                <a:spcPct val="150000"/>
              </a:lnSpc>
              <a:buFont typeface="Arial"/>
              <a:buNone/>
              <a:defRPr sz="2400">
                <a:solidFill>
                  <a:srgbClr val="323232"/>
                </a:solidFill>
              </a:defRPr>
            </a:pPr>
            <a:endParaRPr lang="en-US" sz="2400" dirty="0">
              <a:solidFill>
                <a:srgbClr val="323232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3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34AE0E-6634-44E2-AA45-CF49DBA5BDE8}"/>
              </a:ext>
            </a:extLst>
          </p:cNvPr>
          <p:cNvSpPr/>
          <p:nvPr/>
        </p:nvSpPr>
        <p:spPr>
          <a:xfrm>
            <a:off x="0" y="0"/>
            <a:ext cx="4454013" cy="6858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9046" y="2488149"/>
            <a:ext cx="5063612" cy="2727276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6000" dirty="0">
                <a:solidFill>
                  <a:srgbClr val="00B050"/>
                </a:solidFill>
                <a:latin typeface="+mn-lt"/>
                <a:cs typeface="MiSans Khmer" pitchFamily="50" charset="0"/>
              </a:rPr>
              <a:t>វិស័យដែលប្រើ</a:t>
            </a:r>
            <a:br>
              <a:rPr lang="km-KH" sz="6000" dirty="0">
                <a:solidFill>
                  <a:srgbClr val="FFFF00"/>
                </a:solidFill>
                <a:latin typeface="+mn-lt"/>
                <a:cs typeface="MiSans Khmer" pitchFamily="50" charset="0"/>
              </a:rPr>
            </a:br>
            <a:r>
              <a:rPr lang="km-KH" sz="10700" b="1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ឌីជី</a:t>
            </a:r>
            <a:r>
              <a:rPr lang="km-KH" sz="10700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ថល</a:t>
            </a:r>
            <a:br>
              <a:rPr lang="km-KH" sz="9600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endParaRPr sz="96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099B26-29F8-4C0B-AAE6-5532439C82C3}"/>
              </a:ext>
            </a:extLst>
          </p:cNvPr>
          <p:cNvSpPr txBox="1">
            <a:spLocks/>
          </p:cNvSpPr>
          <p:nvPr/>
        </p:nvSpPr>
        <p:spPr>
          <a:xfrm>
            <a:off x="-491612" y="4130724"/>
            <a:ext cx="5063612" cy="2727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30000" b="1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២</a:t>
            </a:r>
            <a:br>
              <a:rPr lang="km-KH" sz="30000" b="1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endParaRPr lang="km-KH" sz="300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270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st Practices for Using Digital Tools for Educators in Higher Education">
            <a:extLst>
              <a:ext uri="{FF2B5EF4-FFF2-40B4-BE49-F238E27FC236}">
                <a16:creationId xmlns:a16="http://schemas.microsoft.com/office/drawing/2014/main" id="{D739848E-B5BD-45ED-B69A-1004C28D9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109" y="4338631"/>
            <a:ext cx="3234805" cy="226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a Digital Library? A Step-by-Step Guide to Creating One - Kotobee  Blog">
            <a:extLst>
              <a:ext uri="{FF2B5EF4-FFF2-40B4-BE49-F238E27FC236}">
                <a16:creationId xmlns:a16="http://schemas.microsoft.com/office/drawing/2014/main" id="{CFB4847F-5DB3-4C6F-93D6-426E1522A6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1" t="19725" r="26559" b="3598"/>
          <a:stretch/>
        </p:blipFill>
        <p:spPr bwMode="auto">
          <a:xfrm>
            <a:off x="6110742" y="4338630"/>
            <a:ext cx="3033257" cy="252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uld your China business improve with a better internet connection? - SSBG">
            <a:extLst>
              <a:ext uri="{FF2B5EF4-FFF2-40B4-BE49-F238E27FC236}">
                <a16:creationId xmlns:a16="http://schemas.microsoft.com/office/drawing/2014/main" id="{6147A0A0-EEAC-443F-872A-431D3E2E2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4642" r="3734" b="4581"/>
          <a:stretch/>
        </p:blipFill>
        <p:spPr bwMode="auto">
          <a:xfrm>
            <a:off x="157855" y="3818340"/>
            <a:ext cx="2687877" cy="203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1"/>
            <a:ext cx="8365068" cy="385993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២.១ ការអប់រំឌីជីថល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 (Education Digital)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ការរៀនអនឡាញ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Digital Library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Learning Management System</a:t>
            </a: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 (</a:t>
            </a: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LMS) Ex : AEU E-learning App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AI </a:t>
            </a: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ជំនួយការសិក្សា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920043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The Rise of Digital Healthcare: Benefits &amp; Challenges | The Healthcare  Insights">
            <a:extLst>
              <a:ext uri="{FF2B5EF4-FFF2-40B4-BE49-F238E27FC236}">
                <a16:creationId xmlns:a16="http://schemas.microsoft.com/office/drawing/2014/main" id="{F78F5EE8-CC59-4614-AA25-537DF3D00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060" y="3862914"/>
            <a:ext cx="4968372" cy="279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Digital health companion Images - Free Download on Magnific (formerly  Freepik)">
            <a:extLst>
              <a:ext uri="{FF2B5EF4-FFF2-40B4-BE49-F238E27FC236}">
                <a16:creationId xmlns:a16="http://schemas.microsoft.com/office/drawing/2014/main" id="{55824897-50CB-4E92-A76F-5C5EFA360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11" y="2862679"/>
            <a:ext cx="3737237" cy="373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2"/>
            <a:ext cx="8365068" cy="20963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២.២ សុខាភិបាលឌីជីថល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Healthcare</a:t>
            </a: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 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Digital)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កំណត់ត្រាសុខភាពអេឡិចត្រូនិក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ពិគ្រោះជំងឺពីចម្ងាយ និងការវិភាគរូបភាពវេជ្ជសាស្ត្រ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endParaRPr lang="en-US" sz="22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234497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Different Types of ATMs for Business">
            <a:extLst>
              <a:ext uri="{FF2B5EF4-FFF2-40B4-BE49-F238E27FC236}">
                <a16:creationId xmlns:a16="http://schemas.microsoft.com/office/drawing/2014/main" id="{B87E056B-98F7-48A9-B09C-30BB60C8C9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4" r="25484"/>
          <a:stretch/>
        </p:blipFill>
        <p:spPr bwMode="auto">
          <a:xfrm>
            <a:off x="47823" y="3833210"/>
            <a:ext cx="2216349" cy="280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NBC Expands Bakong Mobile Payment App to China and India for Enhanced  Cross-Border Transactions - The Better Cambodia">
            <a:extLst>
              <a:ext uri="{FF2B5EF4-FFF2-40B4-BE49-F238E27FC236}">
                <a16:creationId xmlns:a16="http://schemas.microsoft.com/office/drawing/2014/main" id="{BD278FA2-C235-4D4C-90E2-87AEC9BDB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27"/>
          <a:stretch/>
        </p:blipFill>
        <p:spPr bwMode="auto">
          <a:xfrm>
            <a:off x="2309324" y="3835385"/>
            <a:ext cx="3405265" cy="264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1"/>
            <a:ext cx="8365068" cy="32617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២.៣ ធនាគារ និងហិរញ្ញវត្ថុឌីជីថល(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Banking &amp; Finance</a:t>
            </a: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 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Digital)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Mobile Banking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QR Payment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ATM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Digital Wallet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pic>
        <p:nvPicPr>
          <p:cNvPr id="19" name="Picture 4" descr="Bakong Account Linking">
            <a:extLst>
              <a:ext uri="{FF2B5EF4-FFF2-40B4-BE49-F238E27FC236}">
                <a16:creationId xmlns:a16="http://schemas.microsoft.com/office/drawing/2014/main" id="{75E4F137-E3AD-4079-B14D-D512BFC96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170" y="1582648"/>
            <a:ext cx="2433255" cy="491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066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These 5 Amazon Product Categories Sell Best - GoDaddy Blog">
            <a:extLst>
              <a:ext uri="{FF2B5EF4-FFF2-40B4-BE49-F238E27FC236}">
                <a16:creationId xmlns:a16="http://schemas.microsoft.com/office/drawing/2014/main" id="{DB789822-7D76-4E0D-980C-8F4B24690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4" y="3686695"/>
            <a:ext cx="4571999" cy="29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2"/>
            <a:ext cx="8365068" cy="28442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២.៤ ពាណិជ្ជកម្មឌីជីថល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Business &amp; E-commerce</a:t>
            </a: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 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Digital)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ការលក់ទំនិញអនឡាញ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Digital Marketing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គ្រប់គ្រងស្តុក និងការទូទាត់ឌីជីថល។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pic>
        <p:nvPicPr>
          <p:cNvPr id="6150" name="Picture 6" descr="Digital Marketing and Analytics - MSc - Postgraduate courses - University  of Kent">
            <a:extLst>
              <a:ext uri="{FF2B5EF4-FFF2-40B4-BE49-F238E27FC236}">
                <a16:creationId xmlns:a16="http://schemas.microsoft.com/office/drawing/2014/main" id="{B30F8E56-B939-4E07-B259-E065B9362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3678693"/>
            <a:ext cx="4408754" cy="2939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Free POS System [2022] The 5 Best No-Cost Brands">
            <a:extLst>
              <a:ext uri="{FF2B5EF4-FFF2-40B4-BE49-F238E27FC236}">
                <a16:creationId xmlns:a16="http://schemas.microsoft.com/office/drawing/2014/main" id="{4FAD7B60-DBD0-4810-9B5D-383F2DE75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486" y="1220176"/>
            <a:ext cx="3856973" cy="240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99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Precision Agriculture Market is set to reach US$ 18 billion">
            <a:extLst>
              <a:ext uri="{FF2B5EF4-FFF2-40B4-BE49-F238E27FC236}">
                <a16:creationId xmlns:a16="http://schemas.microsoft.com/office/drawing/2014/main" id="{DF3E551B-358D-4868-8BDE-FC74BE848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30"/>
          <a:stretch/>
        </p:blipFill>
        <p:spPr bwMode="auto">
          <a:xfrm>
            <a:off x="5073446" y="3252644"/>
            <a:ext cx="4070554" cy="347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Agricultural Drone Helps Increase Farm Efficiency">
            <a:extLst>
              <a:ext uri="{FF2B5EF4-FFF2-40B4-BE49-F238E27FC236}">
                <a16:creationId xmlns:a16="http://schemas.microsoft.com/office/drawing/2014/main" id="{7100F5B8-28CC-4D8C-8406-171AFE451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52644"/>
            <a:ext cx="5073444" cy="338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2"/>
            <a:ext cx="8365068" cy="28442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២.៥ កសិកម្មឌីជីថល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Agriculture</a:t>
            </a: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 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Digital)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Drone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ឧបករណ៍វាស់សំណើមដី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ព័ត៌មានអាកាសធាតុ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2769608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 descr="តស់ៗ!​ បើមិនទាន់បានផ្ទៀងផ្ទាត់លេខ Metfone របស់អ្នកទេ ហើយមិនដឹងពីរបៀ... |  TikTok">
            <a:extLst>
              <a:ext uri="{FF2B5EF4-FFF2-40B4-BE49-F238E27FC236}">
                <a16:creationId xmlns:a16="http://schemas.microsoft.com/office/drawing/2014/main" id="{6D28F3D4-A815-4C89-A5E0-D51D01BD6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9" y="3178720"/>
            <a:ext cx="2700866" cy="360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Digital Government Forum 2025 to Take Place in December - ក្រសួងព័ត៌មាន">
            <a:extLst>
              <a:ext uri="{FF2B5EF4-FFF2-40B4-BE49-F238E27FC236}">
                <a16:creationId xmlns:a16="http://schemas.microsoft.com/office/drawing/2014/main" id="{85F88A93-9302-4878-A6BE-834D45D98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541" y="3178720"/>
            <a:ext cx="5025635" cy="3369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2"/>
            <a:ext cx="8365068" cy="28442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២.៥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 </a:t>
            </a: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រដ្ឋបាលសាធារណៈ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Digital Government)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សេវាសាធារណៈអនឡាញ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ឯកសារអេឡិចត្រូនិក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ពន្ធដារ និងការចុះបញ្ជីតាមប្រព័ន្ធឌីជីថល។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2130899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2" name="Picture 16" descr="Community Management: Strategies, Challenges, and Future Directions in  Digital Engagement">
            <a:extLst>
              <a:ext uri="{FF2B5EF4-FFF2-40B4-BE49-F238E27FC236}">
                <a16:creationId xmlns:a16="http://schemas.microsoft.com/office/drawing/2014/main" id="{CBBF2B0B-DD29-4583-970E-565DA2477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" y="3465502"/>
            <a:ext cx="5688249" cy="3202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Whatsapp logo Vectors - Download Free High-Quality Vectors | Magnific  (formerly Freepik)">
            <a:extLst>
              <a:ext uri="{FF2B5EF4-FFF2-40B4-BE49-F238E27FC236}">
                <a16:creationId xmlns:a16="http://schemas.microsoft.com/office/drawing/2014/main" id="{887D7808-36DE-4F28-8BB4-FF319BAE4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137" y="3451353"/>
            <a:ext cx="1279560" cy="127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2"/>
            <a:ext cx="8365068" cy="28442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២.៧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 </a:t>
            </a: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ទំនាក់ទំនង និងព័ត៌មាន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Communication &amp; Media) </a:t>
            </a:r>
            <a:endParaRPr lang="km-KH" sz="2400" b="1" u="sng" dirty="0">
              <a:solidFill>
                <a:srgbClr val="002060"/>
              </a:solidFill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Messenger, Telegram, </a:t>
            </a:r>
            <a:r>
              <a:rPr lang="en-US" sz="2400" dirty="0" err="1">
                <a:latin typeface="Calibri" panose="020F0502020204030204" pitchFamily="34" charset="0"/>
                <a:cs typeface="MiSans Khmer" pitchFamily="50" charset="0"/>
              </a:rPr>
              <a:t>WhaApp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Facebook, </a:t>
            </a:r>
            <a:r>
              <a:rPr lang="en-US" sz="2400" dirty="0" err="1">
                <a:latin typeface="Calibri" panose="020F0502020204030204" pitchFamily="34" charset="0"/>
                <a:cs typeface="MiSans Khmer" pitchFamily="50" charset="0"/>
              </a:rPr>
              <a:t>TikTok</a:t>
            </a: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, YouTube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Email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pic>
        <p:nvPicPr>
          <p:cNvPr id="9218" name="Picture 2" descr="Facebook Messenger - Wikipedia">
            <a:extLst>
              <a:ext uri="{FF2B5EF4-FFF2-40B4-BE49-F238E27FC236}">
                <a16:creationId xmlns:a16="http://schemas.microsoft.com/office/drawing/2014/main" id="{4CD0FBA8-5DCB-4453-9BAA-C71AF987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124" y="1919146"/>
            <a:ext cx="949210" cy="94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Facebook (@facebook) • Instagram photos and videos">
            <a:extLst>
              <a:ext uri="{FF2B5EF4-FFF2-40B4-BE49-F238E27FC236}">
                <a16:creationId xmlns:a16="http://schemas.microsoft.com/office/drawing/2014/main" id="{CA3B76A8-D3E3-4BB6-BD41-E5DAA1878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613" y="2710253"/>
            <a:ext cx="913241" cy="91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File:YouTube full-color icon (2017).svg - Wikimedia Commons">
            <a:extLst>
              <a:ext uri="{FF2B5EF4-FFF2-40B4-BE49-F238E27FC236}">
                <a16:creationId xmlns:a16="http://schemas.microsoft.com/office/drawing/2014/main" id="{B87F60FF-A101-4533-BFCD-E53022E49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460" y="2768933"/>
            <a:ext cx="1098807" cy="77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Email - Email Login - Apps on Google Play">
            <a:extLst>
              <a:ext uri="{FF2B5EF4-FFF2-40B4-BE49-F238E27FC236}">
                <a16:creationId xmlns:a16="http://schemas.microsoft.com/office/drawing/2014/main" id="{090D23AC-25DD-4658-9C33-B69171CBC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100" y="4453149"/>
            <a:ext cx="922047" cy="922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TikTok - Free download and install on Windows | Microsoft Store">
            <a:extLst>
              <a:ext uri="{FF2B5EF4-FFF2-40B4-BE49-F238E27FC236}">
                <a16:creationId xmlns:a16="http://schemas.microsoft.com/office/drawing/2014/main" id="{07C52D70-B2BC-4DC2-928A-E7A8F608D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614" y="1107627"/>
            <a:ext cx="1098807" cy="109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473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2" name="Picture 12" descr="Serve efficiently in restaurants, hotels &amp; hospitals.">
            <a:extLst>
              <a:ext uri="{FF2B5EF4-FFF2-40B4-BE49-F238E27FC236}">
                <a16:creationId xmlns:a16="http://schemas.microsoft.com/office/drawing/2014/main" id="{D3B5DDC4-9D21-496F-9B2F-22B915648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0" r="33168"/>
          <a:stretch/>
        </p:blipFill>
        <p:spPr bwMode="auto">
          <a:xfrm>
            <a:off x="7034712" y="1976731"/>
            <a:ext cx="1870069" cy="447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umanoid Service Robot">
            <a:extLst>
              <a:ext uri="{FF2B5EF4-FFF2-40B4-BE49-F238E27FC236}">
                <a16:creationId xmlns:a16="http://schemas.microsoft.com/office/drawing/2014/main" id="{A1659D24-D0CD-4890-A00B-35AC04C26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454" y="3369380"/>
            <a:ext cx="25717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7 key robot applications in automotive manufacturing - The Robot Report">
            <a:extLst>
              <a:ext uri="{FF2B5EF4-FFF2-40B4-BE49-F238E27FC236}">
                <a16:creationId xmlns:a16="http://schemas.microsoft.com/office/drawing/2014/main" id="{70809460-8E3A-40F2-BE02-CAA174A3F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86"/>
          <a:stretch/>
        </p:blipFill>
        <p:spPr bwMode="auto">
          <a:xfrm>
            <a:off x="10105" y="3369380"/>
            <a:ext cx="4169834" cy="318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2"/>
            <a:ext cx="8365068" cy="28442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២.៩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 </a:t>
            </a: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ឧស្សាហកម្ម និងផលិតកម្ម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Manufacturing) 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Robot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Automation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Smart Factory </a:t>
            </a: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និងការត្រួតពិនិត្យគុណភាពដោយ </a:t>
            </a: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AI</a:t>
            </a: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។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1564185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4F16EC-B974-422A-9349-E14C3E0D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10" y="3242194"/>
            <a:ext cx="6586089" cy="3154390"/>
          </a:xfrm>
          <a:prstGeom prst="rect">
            <a:avLst/>
          </a:prstGeom>
        </p:spPr>
      </p:pic>
      <p:pic>
        <p:nvPicPr>
          <p:cNvPr id="11266" name="Picture 2" descr="Download free for iPhone, iPad &amp; Android">
            <a:extLst>
              <a:ext uri="{FF2B5EF4-FFF2-40B4-BE49-F238E27FC236}">
                <a16:creationId xmlns:a16="http://schemas.microsoft.com/office/drawing/2014/main" id="{4D7122BE-7317-42A4-A539-333937469F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3" t="4551" r="7420" b="8819"/>
          <a:stretch/>
        </p:blipFill>
        <p:spPr bwMode="auto">
          <a:xfrm>
            <a:off x="-4094" y="3192736"/>
            <a:ext cx="2443573" cy="3253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2"/>
            <a:ext cx="8365068" cy="28442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២.១០ ទេសចរណ៍ និងបដិសណ្ឋារកិច្ច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Tourism &amp; Hospitality)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កក់សណ្ឋាគារ និងសំបុត្រអនឡាញ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Digital Map </a:t>
            </a: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និងការផ្សព្វផ្សាយតំបន់ទេសចរណ៍។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2288893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2"/>
            <a:ext cx="8365068" cy="208472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២.១១ សន្តិសុខ និងការពារជាតិ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Security &amp; </a:t>
            </a:r>
            <a:r>
              <a:rPr lang="en-US" sz="2400" b="1" u="sng" dirty="0" err="1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Defence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)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Cybersecurity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ការឃ្លាំមើលឌីជីថល និងប្រព័ន្ធព្រមានជាមុន។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pic>
        <p:nvPicPr>
          <p:cNvPr id="12292" name="Picture 4" descr="Top 10 Cyber Security Tips You Need to Know - Fortitude MSP">
            <a:extLst>
              <a:ext uri="{FF2B5EF4-FFF2-40B4-BE49-F238E27FC236}">
                <a16:creationId xmlns:a16="http://schemas.microsoft.com/office/drawing/2014/main" id="{7E1463E2-CB5D-405B-B418-55215D65ED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02" r="26043"/>
          <a:stretch/>
        </p:blipFill>
        <p:spPr bwMode="auto">
          <a:xfrm>
            <a:off x="88251" y="2967337"/>
            <a:ext cx="2258883" cy="306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How do enterprises use video surveillance? | Security Magazine">
            <a:extLst>
              <a:ext uri="{FF2B5EF4-FFF2-40B4-BE49-F238E27FC236}">
                <a16:creationId xmlns:a16="http://schemas.microsoft.com/office/drawing/2014/main" id="{BAF6C4F1-2357-4CC4-A5CB-45A5876F4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2"/>
          <a:stretch/>
        </p:blipFill>
        <p:spPr bwMode="auto">
          <a:xfrm>
            <a:off x="2392906" y="2980531"/>
            <a:ext cx="4493654" cy="306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Kuala Lumpur's AI-Powered CCTV Network: Safety Breakthrough or Privacy  Nightmare? | 01">
            <a:extLst>
              <a:ext uri="{FF2B5EF4-FFF2-40B4-BE49-F238E27FC236}">
                <a16:creationId xmlns:a16="http://schemas.microsoft.com/office/drawing/2014/main" id="{6B1F108C-0845-4A9A-A274-255982723C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r="40279"/>
          <a:stretch/>
        </p:blipFill>
        <p:spPr bwMode="auto">
          <a:xfrm>
            <a:off x="6386294" y="2980531"/>
            <a:ext cx="2669455" cy="308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656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Combining 3D Animation vs. 2D Animation for Better Results | Autodesk">
            <a:extLst>
              <a:ext uri="{FF2B5EF4-FFF2-40B4-BE49-F238E27FC236}">
                <a16:creationId xmlns:a16="http://schemas.microsoft.com/office/drawing/2014/main" id="{0D487D8F-6A94-4FDB-8884-6B16A73582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61"/>
          <a:stretch/>
        </p:blipFill>
        <p:spPr bwMode="auto">
          <a:xfrm>
            <a:off x="4616811" y="3774113"/>
            <a:ext cx="4527188" cy="2905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Live Stream Your Event: Everything You Need to Know">
            <a:extLst>
              <a:ext uri="{FF2B5EF4-FFF2-40B4-BE49-F238E27FC236}">
                <a16:creationId xmlns:a16="http://schemas.microsoft.com/office/drawing/2014/main" id="{3BA83732-EA17-4CDD-A209-4D35B4FAE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7" r="25774"/>
          <a:stretch/>
        </p:blipFill>
        <p:spPr bwMode="auto">
          <a:xfrm>
            <a:off x="2920181" y="3765460"/>
            <a:ext cx="1651819" cy="309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ow to get started with professional live streaming right now">
            <a:extLst>
              <a:ext uri="{FF2B5EF4-FFF2-40B4-BE49-F238E27FC236}">
                <a16:creationId xmlns:a16="http://schemas.microsoft.com/office/drawing/2014/main" id="{CAEAD7A4-114D-44DF-847C-AD5B049044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2" r="21192"/>
          <a:stretch/>
        </p:blipFill>
        <p:spPr bwMode="auto">
          <a:xfrm>
            <a:off x="-1" y="3765460"/>
            <a:ext cx="2887489" cy="300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1"/>
            <a:ext cx="8365068" cy="32958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២.១១ កម្សាន្ត និងសិល្បៈ (</a:t>
            </a:r>
            <a:r>
              <a:rPr lang="en-US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Entertainment &amp; Creative Industries)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Streaming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Gaming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Digital Photography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  <a:defRPr sz="2400">
                <a:solidFill>
                  <a:srgbClr val="323232"/>
                </a:solidFill>
              </a:defRPr>
            </a:pP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Animation </a:t>
            </a: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និងការបង្កើតតន្ត្រីឌីជីថល។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1839859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34AE0E-6634-44E2-AA45-CF49DBA5BDE8}"/>
              </a:ext>
            </a:extLst>
          </p:cNvPr>
          <p:cNvSpPr/>
          <p:nvPr/>
        </p:nvSpPr>
        <p:spPr>
          <a:xfrm>
            <a:off x="0" y="0"/>
            <a:ext cx="4454013" cy="6858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9046" y="2488149"/>
            <a:ext cx="5063612" cy="2727276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6000" dirty="0">
                <a:solidFill>
                  <a:srgbClr val="00B050"/>
                </a:solidFill>
                <a:latin typeface="+mn-lt"/>
                <a:cs typeface="MiSans Khmer" pitchFamily="50" charset="0"/>
              </a:rPr>
              <a:t>អត្ថប្រយោជន៍នៃ</a:t>
            </a:r>
            <a:br>
              <a:rPr lang="km-KH" sz="6000" dirty="0">
                <a:solidFill>
                  <a:srgbClr val="FFFF00"/>
                </a:solidFill>
                <a:latin typeface="+mn-lt"/>
                <a:cs typeface="MiSans Khmer" pitchFamily="50" charset="0"/>
              </a:rPr>
            </a:br>
            <a:r>
              <a:rPr lang="km-KH" sz="10700" b="1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ឌីជី</a:t>
            </a:r>
            <a:r>
              <a:rPr lang="km-KH" sz="10700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ថល</a:t>
            </a:r>
            <a:br>
              <a:rPr lang="km-KH" sz="9600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endParaRPr sz="96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099B26-29F8-4C0B-AAE6-5532439C82C3}"/>
              </a:ext>
            </a:extLst>
          </p:cNvPr>
          <p:cNvSpPr txBox="1">
            <a:spLocks/>
          </p:cNvSpPr>
          <p:nvPr/>
        </p:nvSpPr>
        <p:spPr>
          <a:xfrm>
            <a:off x="-491612" y="4130724"/>
            <a:ext cx="5063612" cy="2727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30000" b="1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៣</a:t>
            </a:r>
            <a:br>
              <a:rPr lang="km-KH" sz="30000" b="1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endParaRPr lang="km-KH" sz="300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87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1"/>
            <a:ext cx="8365068" cy="32404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៣.១ អត្ថប្រយោជន៍នៃការប្រើប្រាស់បច្ចេកវិទ្យាឌីជីថល</a:t>
            </a: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បច្ចុប្បន្ននេះបច្ចេកវិទ្យាកំពុងបន្តរីកចម្រើនយ៉ាងលឿនរហ័ស ដូច្នេះការរស់នៅគឺត្រូវបានបម្លែងទៅជាឌីជីថល ហើយមនុស្សចាប់ផ្តើមសម្របខ្លួន រៀន ប្រើប្រាស់ និងបង្កើតថ្មីៗ។</a:t>
            </a:r>
            <a:br>
              <a:rPr lang="km-KH" sz="2400" dirty="0">
                <a:latin typeface="Calibri" panose="020F0502020204030204" pitchFamily="34" charset="0"/>
                <a:cs typeface="MiSans Khmer" pitchFamily="50" charset="0"/>
              </a:rPr>
            </a:b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3612217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6200000">
            <a:off x="-365926" y="1775604"/>
            <a:ext cx="3708516" cy="3240499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5400" b="1" dirty="0">
                <a:solidFill>
                  <a:srgbClr val="00B050"/>
                </a:solidFill>
                <a:latin typeface="Calibri" panose="020F0502020204030204" pitchFamily="34" charset="0"/>
                <a:cs typeface="MiSans Khmer" pitchFamily="50" charset="0"/>
              </a:rPr>
              <a:t>អត្ថប្រយោជន៍នៃឌីជីថល</a:t>
            </a:r>
            <a:br>
              <a:rPr lang="km-KH" sz="5400" b="1" dirty="0">
                <a:solidFill>
                  <a:srgbClr val="00B050"/>
                </a:solidFill>
                <a:latin typeface="Calibri" panose="020F0502020204030204" pitchFamily="34" charset="0"/>
                <a:cs typeface="MiSans Khmer" pitchFamily="50" charset="0"/>
              </a:rPr>
            </a:br>
            <a:endParaRPr lang="en-US" sz="5400" b="1" dirty="0">
              <a:solidFill>
                <a:srgbClr val="00B050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F440072-68C3-40AA-95A7-9E7F60CC6D38}"/>
              </a:ext>
            </a:extLst>
          </p:cNvPr>
          <p:cNvSpPr txBox="1">
            <a:spLocks/>
          </p:cNvSpPr>
          <p:nvPr/>
        </p:nvSpPr>
        <p:spPr>
          <a:xfrm>
            <a:off x="3108582" y="659366"/>
            <a:ext cx="5196549" cy="5804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FFC000"/>
                </a:solidFill>
                <a:latin typeface="Calibri" panose="020F0502020204030204" pitchFamily="34" charset="0"/>
                <a:cs typeface="MiSans Khmer" pitchFamily="50" charset="0"/>
              </a:rPr>
              <a:t>ទំនាក់ទំនងលឿន និងងាយស្រួល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អាចផ្ញើសារ ប្រជុំតាមអនឡាញ និងចែករំលែកព័ត៌មានបានភ្លាមៗ។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0070C0"/>
                </a:solidFill>
                <a:latin typeface="Calibri" panose="020F0502020204030204" pitchFamily="34" charset="0"/>
                <a:cs typeface="MiSans Khmer" pitchFamily="50" charset="0"/>
              </a:rPr>
              <a:t>ងាយស្រួលស្វែងរកចំណេះដឹង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និស្សិតអាចសិក្សាតាមអ៊ីនធឺណិត (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Online Learning) </a:t>
            </a: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និងប្រើបណ្ណាល័យឌីជីថល (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Digital Library)</a:t>
            </a: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។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7030A0"/>
                </a:solidFill>
                <a:latin typeface="Calibri" panose="020F0502020204030204" pitchFamily="34" charset="0"/>
                <a:cs typeface="MiSans Khmer" pitchFamily="50" charset="0"/>
              </a:rPr>
              <a:t>បង្កើនប្រសិទ្ធភាពការងារ (</a:t>
            </a:r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MiSans Khmer" pitchFamily="50" charset="0"/>
              </a:rPr>
              <a:t>Efficiency)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កុំព្យូទ័រ និងកម្មវិធីជួយធ្វើការងារបានលឿន ត្រឹមត្រូវ និងកាត់បន្ថយកំហុស។</a:t>
            </a:r>
            <a:endParaRPr lang="en-US" sz="2000" dirty="0">
              <a:solidFill>
                <a:srgbClr val="323232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090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6200000">
            <a:off x="-365926" y="1775604"/>
            <a:ext cx="3708516" cy="3240499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5400" b="1" dirty="0">
                <a:solidFill>
                  <a:srgbClr val="FFC000"/>
                </a:solidFill>
                <a:latin typeface="Calibri" panose="020F0502020204030204" pitchFamily="34" charset="0"/>
                <a:cs typeface="MiSans Khmer" pitchFamily="50" charset="0"/>
              </a:rPr>
              <a:t>អត្ថប្រយោជន៍នៃឌីជីថល</a:t>
            </a:r>
            <a:br>
              <a:rPr lang="km-KH" sz="5400" b="1" dirty="0">
                <a:solidFill>
                  <a:srgbClr val="FFC000"/>
                </a:solidFill>
                <a:latin typeface="Calibri" panose="020F0502020204030204" pitchFamily="34" charset="0"/>
                <a:cs typeface="MiSans Khmer" pitchFamily="50" charset="0"/>
              </a:rPr>
            </a:br>
            <a:endParaRPr lang="en-US" sz="5400" b="1" dirty="0">
              <a:solidFill>
                <a:srgbClr val="FFC000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F440072-68C3-40AA-95A7-9E7F60CC6D38}"/>
              </a:ext>
            </a:extLst>
          </p:cNvPr>
          <p:cNvSpPr txBox="1">
            <a:spLocks/>
          </p:cNvSpPr>
          <p:nvPr/>
        </p:nvSpPr>
        <p:spPr>
          <a:xfrm>
            <a:off x="3282407" y="640722"/>
            <a:ext cx="5196549" cy="55418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00B050"/>
                </a:solidFill>
                <a:latin typeface="Calibri" panose="020F0502020204030204" pitchFamily="34" charset="0"/>
                <a:cs typeface="MiSans Khmer" pitchFamily="50" charset="0"/>
              </a:rPr>
              <a:t>សន្សំពេលវេលា និងចំណាយ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អាចទិញទំនិញ បង់ប្រាក់ ផ្ទេរប្រាក់ និងទទួលសេវាសាធារណៈតាមអនឡាញ។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FF0000"/>
                </a:solidFill>
                <a:latin typeface="Calibri" panose="020F0502020204030204" pitchFamily="34" charset="0"/>
                <a:cs typeface="MiSans Khmer" pitchFamily="50" charset="0"/>
              </a:rPr>
              <a:t>រក្សាទុក និងគ្រប់គ្រងទិន្នន័យ (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MiSans Khmer" pitchFamily="50" charset="0"/>
              </a:rPr>
              <a:t>Data </a:t>
            </a:r>
            <a:r>
              <a:rPr lang="en-US" sz="24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Management)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ឯកសារ និងព័ត៌មានអាចរក្សាទុកក្នុង 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Cloud </a:t>
            </a: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ហើយងាយស្រួលស្វែងរក កែប្រែ និងចែករំលែក។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400" b="1" dirty="0">
                <a:solidFill>
                  <a:srgbClr val="00B0F0"/>
                </a:solidFill>
                <a:latin typeface="Calibri" panose="020F0502020204030204" pitchFamily="34" charset="0"/>
                <a:cs typeface="MiSans Khmer" pitchFamily="50" charset="0"/>
              </a:rPr>
              <a:t>គាំទ្រការសម្រេចចិត្ត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ការវិភាគទិន្នន័យ (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Data Analytics) </a:t>
            </a:r>
            <a:r>
              <a:rPr lang="km-KH" sz="20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ជួយឱ្យអង្គការ និងអាជីវកម្មធ្វើសេចក្ដីសម្រេចបានត្រឹមត្រូវជាងមុន។</a:t>
            </a:r>
            <a:endParaRPr lang="en-US" sz="2000" dirty="0">
              <a:solidFill>
                <a:srgbClr val="323232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203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6200000">
            <a:off x="-365926" y="1775604"/>
            <a:ext cx="3708516" cy="3240499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5400" b="1" dirty="0">
                <a:solidFill>
                  <a:srgbClr val="0070C0"/>
                </a:solidFill>
                <a:latin typeface="Calibri" panose="020F0502020204030204" pitchFamily="34" charset="0"/>
                <a:cs typeface="MiSans Khmer" pitchFamily="50" charset="0"/>
              </a:rPr>
              <a:t>អត្ថប្រយោជន៍នៃឌីជីថល</a:t>
            </a:r>
            <a:br>
              <a:rPr lang="km-KH" sz="5400" b="1" dirty="0">
                <a:solidFill>
                  <a:srgbClr val="0070C0"/>
                </a:solidFill>
                <a:latin typeface="Calibri" panose="020F0502020204030204" pitchFamily="34" charset="0"/>
                <a:cs typeface="MiSans Khmer" pitchFamily="50" charset="0"/>
              </a:rPr>
            </a:br>
            <a:endParaRPr lang="en-US" sz="5400" b="1" dirty="0">
              <a:solidFill>
                <a:srgbClr val="0070C0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F440072-68C3-40AA-95A7-9E7F60CC6D38}"/>
              </a:ext>
            </a:extLst>
          </p:cNvPr>
          <p:cNvSpPr txBox="1">
            <a:spLocks/>
          </p:cNvSpPr>
          <p:nvPr/>
        </p:nvSpPr>
        <p:spPr>
          <a:xfrm>
            <a:off x="3281810" y="539793"/>
            <a:ext cx="5196549" cy="6610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000" b="1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បង្កើតឱកាសការងារ និងអាជីវកម្មថ្មី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ដូចជា </a:t>
            </a:r>
            <a:r>
              <a:rPr lang="en-US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E-commerce, Digital Marketing, Software Development, Content Creation </a:t>
            </a: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និងការងារពីចម្ងាយ (</a:t>
            </a:r>
            <a:r>
              <a:rPr lang="en-US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Remote Work)</a:t>
            </a: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។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000" b="1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លើកកម្ពស់សុខាភិបាល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អាចពិគ្រោះជំងឺពីចម្ងាយ (</a:t>
            </a:r>
            <a:r>
              <a:rPr lang="en-US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Telemedicine) </a:t>
            </a: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និងគ្រប់គ្រងកំណត់ត្រាអ្នកជំងឺបានល្អ។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000" b="1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ជំរុញការច្នៃប្រឌិត (</a:t>
            </a:r>
            <a:r>
              <a:rPr lang="en-US" sz="2000" b="1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Innovation)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បច្ចេកវិទ្យាដូចជា </a:t>
            </a:r>
            <a:r>
              <a:rPr lang="en-US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Artificial Intelligence (AI), Internet of Things (IoT) </a:t>
            </a: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និង </a:t>
            </a:r>
            <a:r>
              <a:rPr lang="en-US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Robotics </a:t>
            </a: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ជួយបង្កើតផលិតផល និងសេវាថ្មីៗ។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solidFill>
                  <a:srgbClr val="323232"/>
                </a:solidFill>
              </a:defRPr>
            </a:pPr>
            <a:r>
              <a:rPr lang="km-KH" sz="2000" b="1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បង្កើនភាពបត់បែន</a:t>
            </a:r>
          </a:p>
          <a:p>
            <a:pPr marL="400050" lvl="1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1600" dirty="0">
                <a:solidFill>
                  <a:srgbClr val="323232"/>
                </a:solidFill>
                <a:latin typeface="Calibri" panose="020F0502020204030204" pitchFamily="34" charset="0"/>
                <a:cs typeface="MiSans Khmer" pitchFamily="50" charset="0"/>
              </a:rPr>
              <a:t>មនុស្សអាចធ្វើការ និងសិក្សាពីគ្រប់ទីកន្លែង តាមរយៈឧបករណ៍ដែលភ្ជាប់អ៊ីនធឺណិត។</a:t>
            </a:r>
            <a:endParaRPr lang="en-US" sz="1600" dirty="0">
              <a:solidFill>
                <a:srgbClr val="323232"/>
              </a:solidFill>
              <a:latin typeface="Calibri" panose="020F0502020204030204" pitchFamily="34" charset="0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775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34AE0E-6634-44E2-AA45-CF49DBA5BDE8}"/>
              </a:ext>
            </a:extLst>
          </p:cNvPr>
          <p:cNvSpPr/>
          <p:nvPr/>
        </p:nvSpPr>
        <p:spPr>
          <a:xfrm>
            <a:off x="0" y="0"/>
            <a:ext cx="4454013" cy="6858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9046" y="2488149"/>
            <a:ext cx="5063612" cy="2727276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6000" dirty="0">
                <a:solidFill>
                  <a:srgbClr val="00B050"/>
                </a:solidFill>
                <a:latin typeface="+mn-lt"/>
                <a:cs typeface="MiSans Khmer" pitchFamily="50" charset="0"/>
              </a:rPr>
              <a:t>តើយើងប្រើប្រាស់</a:t>
            </a:r>
            <a:br>
              <a:rPr lang="km-KH" sz="6000" dirty="0">
                <a:solidFill>
                  <a:srgbClr val="FFFF00"/>
                </a:solidFill>
                <a:latin typeface="+mn-lt"/>
                <a:cs typeface="MiSans Khmer" pitchFamily="50" charset="0"/>
              </a:rPr>
            </a:br>
            <a:r>
              <a:rPr lang="km-KH" sz="10700" b="1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ឌីជី</a:t>
            </a:r>
            <a:r>
              <a:rPr lang="km-KH" sz="10700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ថល</a:t>
            </a:r>
            <a:br>
              <a:rPr lang="km-KH" sz="10700" dirty="0">
                <a:solidFill>
                  <a:srgbClr val="FFC000"/>
                </a:solidFill>
                <a:latin typeface="+mn-lt"/>
                <a:cs typeface="MiSans Khmer" pitchFamily="50" charset="0"/>
              </a:rPr>
            </a:br>
            <a:r>
              <a:rPr lang="km-KH" sz="10700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អ្វីខ្លះ?</a:t>
            </a:r>
            <a:br>
              <a:rPr lang="km-KH" sz="9600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endParaRPr sz="96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099B26-29F8-4C0B-AAE6-5532439C82C3}"/>
              </a:ext>
            </a:extLst>
          </p:cNvPr>
          <p:cNvSpPr txBox="1">
            <a:spLocks/>
          </p:cNvSpPr>
          <p:nvPr/>
        </p:nvSpPr>
        <p:spPr>
          <a:xfrm>
            <a:off x="-491612" y="4130724"/>
            <a:ext cx="5063612" cy="2727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600" b="1">
                <a:solidFill>
                  <a:srgbClr val="323232"/>
                </a:solidFill>
              </a:defRPr>
            </a:pPr>
            <a:r>
              <a:rPr lang="km-KH" sz="30000" b="1" dirty="0">
                <a:solidFill>
                  <a:srgbClr val="FFC000"/>
                </a:solidFill>
                <a:latin typeface="+mn-lt"/>
                <a:cs typeface="MiSans Khmer" pitchFamily="50" charset="0"/>
              </a:rPr>
              <a:t>៤</a:t>
            </a:r>
            <a:br>
              <a:rPr lang="km-KH" sz="30000" b="1" dirty="0">
                <a:solidFill>
                  <a:srgbClr val="002060"/>
                </a:solidFill>
                <a:latin typeface="+mn-lt"/>
                <a:cs typeface="MiSans Khmer" pitchFamily="50" charset="0"/>
              </a:rPr>
            </a:br>
            <a:endParaRPr lang="km-KH" sz="30000" b="1" dirty="0">
              <a:solidFill>
                <a:srgbClr val="00B050"/>
              </a:solidFill>
              <a:latin typeface="+mn-lt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705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A Day in the Digital Life | Omnivex">
            <a:extLst>
              <a:ext uri="{FF2B5EF4-FFF2-40B4-BE49-F238E27FC236}">
                <a16:creationId xmlns:a16="http://schemas.microsoft.com/office/drawing/2014/main" id="{37039FFE-F0D6-42B8-A267-EBEF02856D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4"/>
          <a:stretch/>
        </p:blipFill>
        <p:spPr bwMode="auto">
          <a:xfrm>
            <a:off x="1638926" y="2583659"/>
            <a:ext cx="5976261" cy="420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7BF1-AF9D-D958-D41A-E6ADED3F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53071"/>
            <a:ext cx="6543369" cy="21664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b="1" u="sng" dirty="0">
                <a:solidFill>
                  <a:srgbClr val="002060"/>
                </a:solidFill>
                <a:latin typeface="Calibri" panose="020F0502020204030204" pitchFamily="34" charset="0"/>
                <a:cs typeface="MiSans Khmer" pitchFamily="50" charset="0"/>
              </a:rPr>
              <a:t>៤.១ តើយើងប្រើប្រាស់ឌីជីថលអ្វីខ្លះ</a:t>
            </a:r>
          </a:p>
          <a:p>
            <a:pPr marL="0" indent="0">
              <a:lnSpc>
                <a:spcPct val="150000"/>
              </a:lnSpc>
              <a:buNone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យើងបានដឹងពីឌីជីថលហើយ ហើយក៏បានប្រើប្រាស់ច្រើនក្នុងការរស់នៅប្រចាំថ្ងៃ។</a:t>
            </a:r>
            <a:endParaRPr lang="en-US" sz="2400" dirty="0">
              <a:latin typeface="Calibri" panose="020F0502020204030204" pitchFamily="34" charset="0"/>
              <a:cs typeface="MiSans Khmer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1161461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EC24-8E6B-B085-8111-46648EDB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7AE71B1-2055-44E4-AE4D-865FFF03A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01" y="1568577"/>
            <a:ext cx="7728155" cy="515210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34B7B-0E2D-5BEC-37CB-1D486440EDB8}"/>
              </a:ext>
            </a:extLst>
          </p:cNvPr>
          <p:cNvGrpSpPr/>
          <p:nvPr/>
        </p:nvGrpSpPr>
        <p:grpSpPr>
          <a:xfrm>
            <a:off x="0" y="132409"/>
            <a:ext cx="9144000" cy="6725590"/>
            <a:chOff x="0" y="132409"/>
            <a:chExt cx="9144000" cy="6725590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9FA7C9D0-4F0D-81B9-C512-D4BB37FB773D}"/>
                </a:ext>
              </a:extLst>
            </p:cNvPr>
            <p:cNvSpPr/>
            <p:nvPr/>
          </p:nvSpPr>
          <p:spPr>
            <a:xfrm>
              <a:off x="1" y="6331022"/>
              <a:ext cx="2700866" cy="504679"/>
            </a:xfrm>
            <a:prstGeom prst="homePlate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4FBDAC-6997-D30A-871C-2630E9220E59}"/>
                </a:ext>
              </a:extLst>
            </p:cNvPr>
            <p:cNvSpPr/>
            <p:nvPr/>
          </p:nvSpPr>
          <p:spPr>
            <a:xfrm>
              <a:off x="0" y="6583362"/>
              <a:ext cx="9144000" cy="27463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A0B6D-EEAF-1319-ADFC-493E69AA0DEF}"/>
                </a:ext>
              </a:extLst>
            </p:cNvPr>
            <p:cNvSpPr txBox="1"/>
            <p:nvPr/>
          </p:nvSpPr>
          <p:spPr>
            <a:xfrm>
              <a:off x="272017" y="132409"/>
              <a:ext cx="18913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Asia Euro University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D3453F-36D5-A279-A908-32003D6FF45B}"/>
                </a:ext>
              </a:extLst>
            </p:cNvPr>
            <p:cNvSpPr txBox="1"/>
            <p:nvPr/>
          </p:nvSpPr>
          <p:spPr>
            <a:xfrm>
              <a:off x="6098936" y="201239"/>
              <a:ext cx="28943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</a:rPr>
                <a:t>Faculty Science and Technology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D9E694-88F9-89DC-0ED2-D02DF5BD1B6D}"/>
                </a:ext>
              </a:extLst>
            </p:cNvPr>
            <p:cNvGrpSpPr/>
            <p:nvPr/>
          </p:nvGrpSpPr>
          <p:grpSpPr>
            <a:xfrm>
              <a:off x="226865" y="436295"/>
              <a:ext cx="1991922" cy="99387"/>
              <a:chOff x="226865" y="436295"/>
              <a:chExt cx="1991922" cy="99387"/>
            </a:xfrm>
            <a:solidFill>
              <a:srgbClr val="FFC000"/>
            </a:solidFill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19C39C-3068-798C-80A6-7EA253553E03}"/>
                  </a:ext>
                </a:extLst>
              </p:cNvPr>
              <p:cNvCxnSpPr/>
              <p:nvPr/>
            </p:nvCxnSpPr>
            <p:spPr>
              <a:xfrm>
                <a:off x="272017" y="490529"/>
                <a:ext cx="1891352" cy="0"/>
              </a:xfrm>
              <a:prstGeom prst="line">
                <a:avLst/>
              </a:prstGeom>
              <a:grpFill/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BB59B7C-9DDD-C3AF-9C84-AB3D2FB23E5E}"/>
                  </a:ext>
                </a:extLst>
              </p:cNvPr>
              <p:cNvSpPr/>
              <p:nvPr/>
            </p:nvSpPr>
            <p:spPr>
              <a:xfrm>
                <a:off x="2128483" y="436295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EBC3EF-BB93-D244-7A13-7F556BDBECA0}"/>
                  </a:ext>
                </a:extLst>
              </p:cNvPr>
              <p:cNvSpPr/>
              <p:nvPr/>
            </p:nvSpPr>
            <p:spPr>
              <a:xfrm>
                <a:off x="226865" y="445378"/>
                <a:ext cx="90304" cy="90304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74E2552-05EE-17B0-3F78-0C20D90DEFB2}"/>
              </a:ext>
            </a:extLst>
          </p:cNvPr>
          <p:cNvSpPr txBox="1"/>
          <p:nvPr/>
        </p:nvSpPr>
        <p:spPr>
          <a:xfrm>
            <a:off x="8017933" y="6308725"/>
            <a:ext cx="9220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 algn="r">
              <a:defRPr sz="1400" b="1"/>
            </a:pP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08DB-553D-C458-E1E1-74F6D7B9435B}"/>
              </a:ext>
            </a:extLst>
          </p:cNvPr>
          <p:cNvSpPr txBox="1"/>
          <p:nvPr/>
        </p:nvSpPr>
        <p:spPr>
          <a:xfrm>
            <a:off x="1" y="6334780"/>
            <a:ext cx="284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Introduction to Digital and 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Lectured by Mr. THOEURN Pheakdey</a:t>
            </a:r>
          </a:p>
        </p:txBody>
      </p:sp>
    </p:spTree>
    <p:extLst>
      <p:ext uri="{BB962C8B-B14F-4D97-AF65-F5344CB8AC3E}">
        <p14:creationId xmlns:p14="http://schemas.microsoft.com/office/powerpoint/2010/main" val="641319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9528B5F-7214-49AB-8B47-FCECDA66AD98}"/>
              </a:ext>
            </a:extLst>
          </p:cNvPr>
          <p:cNvSpPr txBox="1"/>
          <p:nvPr/>
        </p:nvSpPr>
        <p:spPr>
          <a:xfrm>
            <a:off x="3180574" y="588378"/>
            <a:ext cx="2618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m-KH" sz="5400" b="1" dirty="0">
                <a:solidFill>
                  <a:srgbClr val="FFC000"/>
                </a:solidFill>
                <a:latin typeface="MiSans Khmer" pitchFamily="2" charset="0"/>
                <a:cs typeface="MiSans Khmer" pitchFamily="2" charset="0"/>
              </a:rPr>
              <a:t>កិច្ចការផ្ទះ</a:t>
            </a:r>
            <a:endParaRPr lang="en-US" sz="5400" b="1" dirty="0">
              <a:solidFill>
                <a:srgbClr val="FFC000"/>
              </a:solidFill>
              <a:latin typeface="MiSans Khmer" pitchFamily="2" charset="0"/>
              <a:cs typeface="MiSans Khmer" pitchFamily="2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3D4C35-FDF6-4D0C-8D28-5AEC9C7FD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21" y="2345768"/>
            <a:ext cx="7978879" cy="216646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តើប្អូនកំពុងប្រើបច្ចេកវិទ្យា និងឧបករណ៍ឌីជីថលអ្វីខ្លះ? </a:t>
            </a: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50pt</a:t>
            </a:r>
            <a:endParaRPr lang="km-KH" sz="2400" dirty="0">
              <a:latin typeface="Calibri" panose="020F0502020204030204" pitchFamily="34" charset="0"/>
              <a:cs typeface="MiSans Khmer" pitchFamily="50" charset="0"/>
            </a:endParaRPr>
          </a:p>
          <a:p>
            <a:pPr marL="457200" indent="-457200">
              <a:lnSpc>
                <a:spcPct val="150000"/>
              </a:lnSpc>
              <a:buAutoNum type="arabicPeriod"/>
              <a:defRPr sz="2400">
                <a:solidFill>
                  <a:srgbClr val="323232"/>
                </a:solidFill>
              </a:defRPr>
            </a:pPr>
            <a:r>
              <a:rPr lang="km-KH" sz="2400" dirty="0">
                <a:latin typeface="Calibri" panose="020F0502020204030204" pitchFamily="34" charset="0"/>
                <a:cs typeface="MiSans Khmer" pitchFamily="50" charset="0"/>
              </a:rPr>
              <a:t>ហេតុអ្វីបានជាឌីជីថលមានសារៈសំខាន់?</a:t>
            </a:r>
            <a:r>
              <a:rPr lang="en-US" sz="2400" dirty="0">
                <a:latin typeface="Calibri" panose="020F0502020204030204" pitchFamily="34" charset="0"/>
                <a:cs typeface="MiSans Khmer" pitchFamily="50" charset="0"/>
              </a:rPr>
              <a:t> 50pt</a:t>
            </a:r>
          </a:p>
        </p:txBody>
      </p:sp>
    </p:spTree>
    <p:extLst>
      <p:ext uri="{BB962C8B-B14F-4D97-AF65-F5344CB8AC3E}">
        <p14:creationId xmlns:p14="http://schemas.microsoft.com/office/powerpoint/2010/main" val="832692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2DC7DF6-6688-46CA-9E04-ADD17575A37D}"/>
              </a:ext>
            </a:extLst>
          </p:cNvPr>
          <p:cNvGrpSpPr/>
          <p:nvPr/>
        </p:nvGrpSpPr>
        <p:grpSpPr>
          <a:xfrm>
            <a:off x="0" y="6739542"/>
            <a:ext cx="9144000" cy="118457"/>
            <a:chOff x="0" y="0"/>
            <a:chExt cx="12192000" cy="721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C78370-473C-4C01-B6D2-FC71C60D16DF}"/>
                </a:ext>
              </a:extLst>
            </p:cNvPr>
            <p:cNvSpPr/>
            <p:nvPr/>
          </p:nvSpPr>
          <p:spPr>
            <a:xfrm>
              <a:off x="0" y="0"/>
              <a:ext cx="2646947" cy="721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B15CE7-DE1D-43CD-88C4-51AC3637E32E}"/>
                </a:ext>
              </a:extLst>
            </p:cNvPr>
            <p:cNvSpPr/>
            <p:nvPr/>
          </p:nvSpPr>
          <p:spPr>
            <a:xfrm flipV="1">
              <a:off x="2646947" y="1"/>
              <a:ext cx="9545053" cy="7218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9528B5F-7214-49AB-8B47-FCECDA66AD98}"/>
              </a:ext>
            </a:extLst>
          </p:cNvPr>
          <p:cNvSpPr txBox="1"/>
          <p:nvPr/>
        </p:nvSpPr>
        <p:spPr>
          <a:xfrm>
            <a:off x="2511980" y="2505669"/>
            <a:ext cx="4120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m-KH" sz="5400" b="1" dirty="0">
                <a:solidFill>
                  <a:srgbClr val="C00000"/>
                </a:solidFill>
                <a:latin typeface="MiSans Khmer" pitchFamily="2" charset="0"/>
                <a:cs typeface="MiSans Khmer" pitchFamily="2" charset="0"/>
              </a:rPr>
              <a:t>ឯកសារឌីជីថល</a:t>
            </a:r>
            <a:endParaRPr lang="en-US" sz="5400" b="1" dirty="0">
              <a:solidFill>
                <a:srgbClr val="C00000"/>
              </a:solidFill>
              <a:latin typeface="MiSans Khmer" pitchFamily="2" charset="0"/>
              <a:cs typeface="MiSans Khmer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F5CDA9-7BC0-4F6F-A53F-8E8CCA96DB69}"/>
              </a:ext>
            </a:extLst>
          </p:cNvPr>
          <p:cNvGrpSpPr/>
          <p:nvPr/>
        </p:nvGrpSpPr>
        <p:grpSpPr>
          <a:xfrm>
            <a:off x="0" y="0"/>
            <a:ext cx="9144000" cy="118457"/>
            <a:chOff x="0" y="0"/>
            <a:chExt cx="12192000" cy="7218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0BBB743-5067-4706-B6D7-2D901EA2B760}"/>
                </a:ext>
              </a:extLst>
            </p:cNvPr>
            <p:cNvSpPr/>
            <p:nvPr/>
          </p:nvSpPr>
          <p:spPr>
            <a:xfrm>
              <a:off x="0" y="0"/>
              <a:ext cx="2646947" cy="721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6B54E69-C547-4B5D-840F-066E66C79226}"/>
                </a:ext>
              </a:extLst>
            </p:cNvPr>
            <p:cNvSpPr/>
            <p:nvPr/>
          </p:nvSpPr>
          <p:spPr>
            <a:xfrm flipV="1">
              <a:off x="2646947" y="1"/>
              <a:ext cx="9545053" cy="7218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1759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4C2FEB-121C-4989-A1B3-9D08BFF2545A}"/>
              </a:ext>
            </a:extLst>
          </p:cNvPr>
          <p:cNvSpPr txBox="1"/>
          <p:nvPr/>
        </p:nvSpPr>
        <p:spPr>
          <a:xfrm>
            <a:off x="8637494" y="5670611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23B81D-430B-455F-A19E-760BF5898960}"/>
              </a:ext>
            </a:extLst>
          </p:cNvPr>
          <p:cNvSpPr txBox="1"/>
          <p:nvPr/>
        </p:nvSpPr>
        <p:spPr>
          <a:xfrm>
            <a:off x="3387974" y="2878842"/>
            <a:ext cx="2250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m-KH" sz="2400" b="1" dirty="0">
                <a:latin typeface="MiSans Khmer" pitchFamily="50" charset="0"/>
                <a:cs typeface="MiSans Khmer" pitchFamily="50" charset="0"/>
              </a:rPr>
              <a:t>សូមអរគុណច្រើន!</a:t>
            </a:r>
            <a:endParaRPr lang="en-US" sz="2400" b="1" dirty="0">
              <a:latin typeface="MiSans Khmer" pitchFamily="50" charset="0"/>
              <a:cs typeface="MiSans Khmer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CFA80-B7BB-43E1-BDAF-F92F34364ECA}"/>
              </a:ext>
            </a:extLst>
          </p:cNvPr>
          <p:cNvSpPr txBox="1"/>
          <p:nvPr/>
        </p:nvSpPr>
        <p:spPr>
          <a:xfrm>
            <a:off x="2602471" y="3255155"/>
            <a:ext cx="3939057" cy="1340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dirty="0">
                <a:latin typeface="MiSans Khmer"/>
                <a:cs typeface="MiSans Khmer" pitchFamily="50" charset="0"/>
              </a:rPr>
              <a:t>សម្រាប់ការយកចិត្តទុកដាក់ស្តាប់ការបង្រៀន</a:t>
            </a:r>
            <a:endParaRPr lang="en-US" dirty="0">
              <a:latin typeface="MiSans Khmer"/>
              <a:cs typeface="MiSans Khmer" pitchFamily="50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US" sz="2000" dirty="0">
                <a:solidFill>
                  <a:srgbClr val="002060"/>
                </a:solidFill>
              </a:rPr>
              <a:t>https://elearning.aeu.cloud</a:t>
            </a:r>
            <a:endParaRPr lang="km-KH" altLang="en-US" sz="2000" dirty="0">
              <a:solidFill>
                <a:srgbClr val="002060"/>
              </a:solidFill>
              <a:ea typeface="DaunPenh" panose="01010101010101010101" pitchFamily="2" charset="0"/>
            </a:endParaRPr>
          </a:p>
          <a:p>
            <a:pPr algn="ctr">
              <a:lnSpc>
                <a:spcPct val="150000"/>
              </a:lnSpc>
            </a:pPr>
            <a:endParaRPr lang="km-KH" dirty="0">
              <a:latin typeface="Calibri (Body)"/>
              <a:cs typeface="MiSans Khm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5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815B1B-EBA9-4120-9E20-943E63D6E9FD}"/>
              </a:ext>
            </a:extLst>
          </p:cNvPr>
          <p:cNvSpPr txBox="1"/>
          <p:nvPr/>
        </p:nvSpPr>
        <p:spPr>
          <a:xfrm>
            <a:off x="2341513" y="3109772"/>
            <a:ext cx="4308570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b="1" dirty="0">
                <a:solidFill>
                  <a:srgbClr val="002060"/>
                </a:solidFill>
                <a:latin typeface="Calibri (Body)"/>
                <a:cs typeface="MiSans Khmer" pitchFamily="50" charset="0"/>
              </a:rPr>
              <a:t>©រក្សាសិទ្ធដោយ សាកលវិទ្យាល័យ អាស៊ី អឺរ៉ុប</a:t>
            </a:r>
            <a:endParaRPr lang="en-US" b="1" dirty="0">
              <a:solidFill>
                <a:srgbClr val="002060"/>
              </a:solidFill>
              <a:latin typeface="Calibri (Body)"/>
              <a:cs typeface="MiSans Khmer" pitchFamily="50" charset="0"/>
            </a:endParaRPr>
          </a:p>
          <a:p>
            <a:pPr algn="ctr">
              <a:lnSpc>
                <a:spcPct val="150000"/>
              </a:lnSpc>
            </a:pPr>
            <a:r>
              <a:rPr lang="km-KH" b="1" dirty="0">
                <a:solidFill>
                  <a:srgbClr val="002060"/>
                </a:solidFill>
                <a:latin typeface="Calibri (Body)"/>
                <a:cs typeface="MiSans Khmer" pitchFamily="50" charset="0"/>
              </a:rPr>
              <a:t>មហាវិទ្យាល័យ វិទ្យាសាស្រ្ត និងបច្ចេកវិទ្យា</a:t>
            </a:r>
          </a:p>
          <a:p>
            <a:pPr algn="ctr">
              <a:lnSpc>
                <a:spcPct val="150000"/>
              </a:lnSpc>
            </a:pPr>
            <a:r>
              <a:rPr lang="km-KH" sz="1600" dirty="0">
                <a:latin typeface="Calibri (Body)"/>
                <a:cs typeface="MiSans Khmer" pitchFamily="50" charset="0"/>
              </a:rPr>
              <a:t>រៀបរៀង និងចងក្រងដោយ </a:t>
            </a:r>
            <a:r>
              <a:rPr lang="km-KH" sz="1600" b="1" dirty="0">
                <a:latin typeface="Calibri (Body)"/>
                <a:cs typeface="MiSans Khmer" pitchFamily="50" charset="0"/>
              </a:rPr>
              <a:t>សាស្រ្តាចារ្យ ធឿន ភក្តី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1CD1C-1C32-4418-9D19-952A5BDDB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794" y="1400642"/>
            <a:ext cx="1170009" cy="159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52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1375</Words>
  <Application>Microsoft Office PowerPoint</Application>
  <PresentationFormat>On-screen Show (4:3)</PresentationFormat>
  <Paragraphs>267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Microsoft YaHei</vt:lpstr>
      <vt:lpstr>MS PGothic</vt:lpstr>
      <vt:lpstr>Arial</vt:lpstr>
      <vt:lpstr>Calibri</vt:lpstr>
      <vt:lpstr>Calibri (Body)</vt:lpstr>
      <vt:lpstr>DaunPenh</vt:lpstr>
      <vt:lpstr>Khmer OS Muol</vt:lpstr>
      <vt:lpstr>Khmer OS Muol Light</vt:lpstr>
      <vt:lpstr>MiSans Khmer</vt:lpstr>
      <vt:lpstr>Wingdings</vt:lpstr>
      <vt:lpstr>Office Theme</vt:lpstr>
      <vt:lpstr>PowerPoint Presentation</vt:lpstr>
      <vt:lpstr>PowerPoint Presentation</vt:lpstr>
      <vt:lpstr>PowerPoint Presentation</vt:lpstr>
      <vt:lpstr>ឌីជីថល និង បញ្ញាសប្បនិម្មិត</vt:lpstr>
      <vt:lpstr>មាតិកា</vt:lpstr>
      <vt:lpstr>តើអ្វីជា ឌីជីថល </vt:lpstr>
      <vt:lpstr>៩. តើអ្វីជា Digital?</vt:lpstr>
      <vt:lpstr>PowerPoint Presentation</vt:lpstr>
      <vt:lpstr>វិស័យដែលប្រើ ឌីជីថល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អត្ថប្រយោជន៍នៃ ឌីជីថល </vt:lpstr>
      <vt:lpstr>PowerPoint Presentation</vt:lpstr>
      <vt:lpstr>PowerPoint Presentation</vt:lpstr>
      <vt:lpstr>PowerPoint Presentation</vt:lpstr>
      <vt:lpstr>PowerPoint Presentation</vt:lpstr>
      <vt:lpstr>តើយើងប្រើប្រាស់ ឌីជីថល អ្វីខ្លះ?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Nava Seal Zy</dc:creator>
  <cp:keywords/>
  <dc:description>generated using python-pptx</dc:description>
  <cp:lastModifiedBy>Pheakdey THOEURN</cp:lastModifiedBy>
  <cp:revision>172</cp:revision>
  <dcterms:created xsi:type="dcterms:W3CDTF">2013-01-27T09:14:16Z</dcterms:created>
  <dcterms:modified xsi:type="dcterms:W3CDTF">2026-08-31T04:41:11Z</dcterms:modified>
  <cp:category/>
</cp:coreProperties>
</file>